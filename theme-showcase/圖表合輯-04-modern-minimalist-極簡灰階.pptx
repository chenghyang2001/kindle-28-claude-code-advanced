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6454F"/>
                </a:solidFill>
                <a:latin typeface="DejaVu Sans"/>
              </a:defRPr>
            </a:pPr>
            <a:r>
              <a:rPr b="1">
                <a:solidFill>
                  <a:srgbClr val="36454F"/>
                </a:solidFill>
                <a:latin typeface="DejaVu Sans"/>
              </a:rPr>
              <a:t>Claude Code 進階指南 — 全書架構圖表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708090"/>
                </a:solidFill>
                <a:latin typeface="DejaVu Sans"/>
              </a:defRPr>
            </a:pPr>
            <a:r>
              <a:rPr b="0">
                <a:solidFill>
                  <a:srgbClr val="708090"/>
                </a:solidFill>
                <a:latin typeface="DejaVu Sans"/>
              </a:rPr>
              <a:t>心智圖・流程圖・系統架構圖・關係圖（Mermaid 生成，2026-07-21）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454F"/>
                </a:solidFill>
                <a:latin typeface="DejaVu Sans"/>
              </a:defRPr>
            </a:pPr>
            <a:r>
              <a:rPr b="1">
                <a:solidFill>
                  <a:srgbClr val="36454F"/>
                </a:solidFill>
                <a:latin typeface="DejaVu Sans"/>
              </a:rPr>
              <a:t>心智圖（中心放射）</a:t>
            </a:r>
          </a:p>
        </p:txBody>
      </p:sp>
      <p:pic>
        <p:nvPicPr>
          <p:cNvPr id="3" name="Picture 2" descr="claude-code-advanced-0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1077861"/>
            <a:ext cx="11795760" cy="52509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454F"/>
                </a:solidFill>
                <a:latin typeface="DejaVu Sans"/>
              </a:defRPr>
            </a:pPr>
            <a:r>
              <a:rPr b="1">
                <a:solidFill>
                  <a:srgbClr val="36454F"/>
                </a:solidFill>
                <a:latin typeface="DejaVu Sans"/>
              </a:rPr>
              <a:t>學習流程圖（含 GSD 四階段循環）</a:t>
            </a:r>
          </a:p>
        </p:txBody>
      </p:sp>
      <p:pic>
        <p:nvPicPr>
          <p:cNvPr id="3" name="Picture 2" descr="claude-code-advanced-02-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30" y="777240"/>
            <a:ext cx="4248234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454F"/>
                </a:solidFill>
                <a:latin typeface="DejaVu Sans"/>
              </a:defRPr>
            </a:pPr>
            <a:r>
              <a:rPr b="1">
                <a:solidFill>
                  <a:srgbClr val="36454F"/>
                </a:solidFill>
                <a:latin typeface="DejaVu Sans"/>
              </a:rPr>
              <a:t>系統架構圖（能力堆疊）</a:t>
            </a:r>
          </a:p>
        </p:txBody>
      </p:sp>
      <p:pic>
        <p:nvPicPr>
          <p:cNvPr id="3" name="Picture 2" descr="claude-code-advanced-03-系統架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174" y="777240"/>
            <a:ext cx="6359347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454F"/>
                </a:solidFill>
                <a:latin typeface="DejaVu Sans"/>
              </a:defRPr>
            </a:pPr>
            <a:r>
              <a:rPr b="1">
                <a:solidFill>
                  <a:srgbClr val="36454F"/>
                </a:solidFill>
                <a:latin typeface="DejaVu Sans"/>
              </a:rPr>
              <a:t>概念關係圖</a:t>
            </a:r>
          </a:p>
        </p:txBody>
      </p:sp>
      <p:pic>
        <p:nvPicPr>
          <p:cNvPr id="3" name="Picture 2" descr="claude-code-advanced-04-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" y="2018211"/>
            <a:ext cx="11795760" cy="33702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